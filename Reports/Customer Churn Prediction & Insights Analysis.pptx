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64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5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12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31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4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13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81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8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2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10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3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1D924-C150-4DC1-8A65-4F9F8B3F848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87EE5-C355-438E-B743-1EC1ECDED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16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5914" y="235938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Prediction &amp; Insights Analysis</a:t>
            </a:r>
            <a:b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b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Y. V. </a:t>
            </a:r>
            <a:r>
              <a:rPr lang="en-GB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Ramana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729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33697" y="0"/>
            <a:ext cx="10515600" cy="740229"/>
          </a:xfrm>
        </p:spPr>
        <p:txBody>
          <a:bodyPr/>
          <a:lstStyle/>
          <a:p>
            <a:pPr algn="ctr"/>
            <a:r>
              <a:rPr lang="en-IN" dirty="0" smtClean="0"/>
              <a:t>Objective &amp; Data sets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627017"/>
            <a:ext cx="10515600" cy="5549946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The goal of the project is to understand </a:t>
            </a:r>
            <a:r>
              <a:rPr lang="en-GB" b="1" dirty="0" smtClean="0"/>
              <a:t>why customers stop buying (churn)</a:t>
            </a:r>
            <a:r>
              <a:rPr lang="en-GB" dirty="0" smtClean="0"/>
              <a:t>.</a:t>
            </a:r>
          </a:p>
          <a:p>
            <a:r>
              <a:rPr lang="en-GB" dirty="0" smtClean="0"/>
              <a:t>We </a:t>
            </a:r>
            <a:r>
              <a:rPr lang="en-GB" dirty="0" err="1" smtClean="0"/>
              <a:t>analyze</a:t>
            </a:r>
            <a:r>
              <a:rPr lang="en-GB" dirty="0" smtClean="0"/>
              <a:t> payments, delivery performance, product categories, ratings, and customer repeat </a:t>
            </a:r>
            <a:r>
              <a:rPr lang="en-GB" dirty="0" err="1" smtClean="0"/>
              <a:t>behavior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u="sng" dirty="0" smtClean="0"/>
              <a:t>About data sets</a:t>
            </a:r>
          </a:p>
          <a:p>
            <a:r>
              <a:rPr lang="en-GB" dirty="0" smtClean="0"/>
              <a:t>This project uses the Brazilian E-commerce Public Dataset from </a:t>
            </a:r>
            <a:r>
              <a:rPr lang="en-GB" dirty="0" err="1" smtClean="0"/>
              <a:t>Olist</a:t>
            </a:r>
            <a:r>
              <a:rPr lang="en-GB" dirty="0" smtClean="0"/>
              <a:t>.</a:t>
            </a:r>
          </a:p>
          <a:p>
            <a:r>
              <a:rPr lang="en-GB" dirty="0" smtClean="0"/>
              <a:t>It contains 100,000+ orders from 2016–2018 from multiple online marketplaces.</a:t>
            </a:r>
          </a:p>
          <a:p>
            <a:r>
              <a:rPr lang="en-GB" dirty="0" smtClean="0"/>
              <a:t>The dataset includes information about:</a:t>
            </a:r>
          </a:p>
          <a:p>
            <a:r>
              <a:rPr lang="en-GB" dirty="0" smtClean="0"/>
              <a:t>Orders &amp; Order Status</a:t>
            </a:r>
          </a:p>
          <a:p>
            <a:r>
              <a:rPr lang="en-GB" dirty="0" smtClean="0"/>
              <a:t>Payments &amp; Prices</a:t>
            </a:r>
          </a:p>
          <a:p>
            <a:r>
              <a:rPr lang="en-GB" dirty="0" smtClean="0"/>
              <a:t>Delivery &amp; Freight Details</a:t>
            </a:r>
          </a:p>
          <a:p>
            <a:r>
              <a:rPr lang="en-GB" dirty="0" smtClean="0"/>
              <a:t>Customer Geolocation</a:t>
            </a:r>
          </a:p>
          <a:p>
            <a:r>
              <a:rPr lang="en-GB" dirty="0" smtClean="0"/>
              <a:t>Product Categories</a:t>
            </a:r>
          </a:p>
          <a:p>
            <a:r>
              <a:rPr lang="en-GB" dirty="0" smtClean="0"/>
              <a:t>Customer Reviews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74292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7949"/>
          </a:xfrm>
        </p:spPr>
        <p:txBody>
          <a:bodyPr/>
          <a:lstStyle/>
          <a:p>
            <a:pPr algn="ctr"/>
            <a:r>
              <a:rPr lang="en-IN" dirty="0" smtClean="0"/>
              <a:t>Feature Engineering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32923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1. Delivery Performance:</a:t>
            </a:r>
          </a:p>
          <a:p>
            <a:pPr marL="0" indent="0">
              <a:buNone/>
            </a:pPr>
            <a:r>
              <a:rPr lang="en-GB" b="1" dirty="0" smtClean="0"/>
              <a:t>&gt; Categorized orders into: Early, On Time, Late, Very Late</a:t>
            </a:r>
          </a:p>
          <a:p>
            <a:pPr marL="0" indent="0">
              <a:buNone/>
            </a:pPr>
            <a:r>
              <a:rPr lang="en-GB" b="1" dirty="0" smtClean="0"/>
              <a:t>&gt; Result: Very Late deliveries had the highest churn (85.9%)</a:t>
            </a:r>
          </a:p>
          <a:p>
            <a:pPr marL="0" indent="0">
              <a:buNone/>
            </a:pPr>
            <a:r>
              <a:rPr lang="en-GB" b="1" dirty="0" smtClean="0"/>
              <a:t>2. </a:t>
            </a:r>
            <a:r>
              <a:rPr lang="en-IN" dirty="0" smtClean="0"/>
              <a:t>Churn Flag</a:t>
            </a:r>
          </a:p>
          <a:p>
            <a:pPr marL="0" indent="0">
              <a:buNone/>
            </a:pPr>
            <a:r>
              <a:rPr lang="en-GB" b="1" dirty="0" smtClean="0"/>
              <a:t>&gt; </a:t>
            </a:r>
            <a:r>
              <a:rPr lang="en-GB" b="1" dirty="0" err="1" smtClean="0"/>
              <a:t>Labeled</a:t>
            </a:r>
            <a:r>
              <a:rPr lang="en-GB" b="1" dirty="0" smtClean="0"/>
              <a:t> customers as Retained or Churned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b="1" dirty="0" smtClean="0"/>
              <a:t>Result: Overall churn rate = 71%, repeat customers = 3.12%</a:t>
            </a:r>
          </a:p>
          <a:p>
            <a:pPr marL="0" indent="0">
              <a:buNone/>
            </a:pPr>
            <a:r>
              <a:rPr lang="en-GB" b="1" dirty="0" smtClean="0"/>
              <a:t>3. </a:t>
            </a:r>
            <a:r>
              <a:rPr lang="en-IN" dirty="0" smtClean="0"/>
              <a:t>Average Review Score = 4.08</a:t>
            </a:r>
          </a:p>
          <a:p>
            <a:pPr marL="0" indent="0">
              <a:buNone/>
            </a:pPr>
            <a:r>
              <a:rPr lang="en-IN" b="1" dirty="0" smtClean="0"/>
              <a:t>4. </a:t>
            </a:r>
            <a:r>
              <a:rPr lang="en-IN" dirty="0" smtClean="0"/>
              <a:t>Total Revenue: </a:t>
            </a:r>
            <a:r>
              <a:rPr lang="en-GB" dirty="0" smtClean="0"/>
              <a:t>Added </a:t>
            </a:r>
            <a:r>
              <a:rPr lang="en-GB" b="1" dirty="0" smtClean="0"/>
              <a:t>price + freight</a:t>
            </a:r>
            <a:r>
              <a:rPr lang="en-GB" dirty="0" smtClean="0"/>
              <a:t> to compute total revenue</a:t>
            </a:r>
            <a:endParaRPr lang="en-IN" b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252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/>
              <a:t>Exploratory Data Analysis (EDA)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140643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To understand customer </a:t>
            </a:r>
            <a:r>
              <a:rPr lang="en-GB" dirty="0" err="1" smtClean="0"/>
              <a:t>behavior</a:t>
            </a:r>
            <a:r>
              <a:rPr lang="en-GB" dirty="0" smtClean="0"/>
              <a:t> and business performance, I explored key patterns in the data:</a:t>
            </a:r>
          </a:p>
          <a:p>
            <a:r>
              <a:rPr lang="en-IN" dirty="0" smtClean="0"/>
              <a:t>Payment Type Distribution: </a:t>
            </a:r>
            <a:r>
              <a:rPr lang="en-GB" dirty="0" smtClean="0"/>
              <a:t>Most customers use </a:t>
            </a:r>
            <a:r>
              <a:rPr lang="en-GB" b="1" dirty="0" smtClean="0"/>
              <a:t>credit cards</a:t>
            </a:r>
          </a:p>
          <a:p>
            <a:r>
              <a:rPr lang="en-IN" dirty="0" smtClean="0"/>
              <a:t>Review Score Patterns: Average rating is </a:t>
            </a:r>
            <a:r>
              <a:rPr lang="en-IN" b="1" dirty="0" smtClean="0"/>
              <a:t>4.08</a:t>
            </a:r>
          </a:p>
          <a:p>
            <a:r>
              <a:rPr lang="en-IN" dirty="0" smtClean="0"/>
              <a:t>Product Category Performance: 1. Beauty &amp; Health = most orders, 2. Watches &amp; Gifts = highest revenue</a:t>
            </a:r>
          </a:p>
          <a:p>
            <a:r>
              <a:rPr lang="en-IN" dirty="0" smtClean="0"/>
              <a:t>Delivery Performance: </a:t>
            </a:r>
            <a:r>
              <a:rPr lang="en-GB" dirty="0" smtClean="0"/>
              <a:t>Late and Very Late deliveries strongly linked to dissatisfaction</a:t>
            </a:r>
          </a:p>
          <a:p>
            <a:r>
              <a:rPr lang="en-IN" dirty="0" smtClean="0"/>
              <a:t>Customer Churn </a:t>
            </a:r>
            <a:r>
              <a:rPr lang="en-IN" dirty="0" err="1" smtClean="0"/>
              <a:t>Behavior</a:t>
            </a:r>
            <a:r>
              <a:rPr lang="en-IN" dirty="0" smtClean="0"/>
              <a:t>: </a:t>
            </a:r>
            <a:r>
              <a:rPr lang="en-GB" dirty="0" smtClean="0"/>
              <a:t>71% of customers did not return</a:t>
            </a:r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99873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99" y="0"/>
            <a:ext cx="6430806" cy="6176963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731520"/>
            <a:ext cx="5181600" cy="5445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smtClean="0"/>
              <a:t>Insight</a:t>
            </a:r>
          </a:p>
          <a:p>
            <a:r>
              <a:rPr lang="en-GB" sz="2000" b="1" dirty="0" smtClean="0"/>
              <a:t>Churned customers = 71%</a:t>
            </a:r>
            <a:r>
              <a:rPr lang="en-GB" sz="2000" dirty="0" smtClean="0"/>
              <a:t>, Retained = 29%</a:t>
            </a:r>
          </a:p>
          <a:p>
            <a:r>
              <a:rPr lang="en-GB" sz="2000" dirty="0" smtClean="0"/>
              <a:t>The business heavily depends on </a:t>
            </a:r>
            <a:r>
              <a:rPr lang="en-GB" sz="2000" b="1" dirty="0" smtClean="0"/>
              <a:t>new customers</a:t>
            </a:r>
            <a:r>
              <a:rPr lang="en-GB" sz="2000" dirty="0" smtClean="0"/>
              <a:t>, not repeat buyers.</a:t>
            </a:r>
          </a:p>
          <a:p>
            <a:r>
              <a:rPr lang="en-GB" sz="2000" dirty="0" smtClean="0"/>
              <a:t>Customer loyalty is extremely low  3.12</a:t>
            </a:r>
          </a:p>
          <a:p>
            <a:pPr marL="0" indent="0">
              <a:buNone/>
            </a:pPr>
            <a:r>
              <a:rPr lang="en-IN" sz="2000" b="1" dirty="0" smtClean="0"/>
              <a:t>Business Suggestions</a:t>
            </a:r>
          </a:p>
          <a:p>
            <a:r>
              <a:rPr lang="en-GB" sz="2000" dirty="0" smtClean="0"/>
              <a:t>Create </a:t>
            </a:r>
            <a:r>
              <a:rPr lang="en-GB" sz="2000" b="1" dirty="0" smtClean="0"/>
              <a:t>post-purchase engagement</a:t>
            </a:r>
            <a:r>
              <a:rPr lang="en-GB" sz="2000" dirty="0" smtClean="0"/>
              <a:t> (emails, follow-ups, discount for next order).</a:t>
            </a:r>
          </a:p>
          <a:p>
            <a:r>
              <a:rPr lang="en-GB" sz="2000" dirty="0" smtClean="0"/>
              <a:t>Identify high-value customers and target them with </a:t>
            </a:r>
            <a:r>
              <a:rPr lang="en-GB" sz="2000" b="1" dirty="0" smtClean="0"/>
              <a:t>retention offers</a:t>
            </a:r>
            <a:r>
              <a:rPr lang="en-GB" sz="2000" dirty="0" smtClean="0"/>
              <a:t>.</a:t>
            </a:r>
            <a:endParaRPr lang="en-IN" sz="2000" b="1" dirty="0" smtClean="0"/>
          </a:p>
          <a:p>
            <a:r>
              <a:rPr lang="en-GB" sz="2000" dirty="0" smtClean="0"/>
              <a:t>Identify high-value customers and target them with </a:t>
            </a:r>
            <a:r>
              <a:rPr lang="en-GB" sz="2000" b="1" dirty="0" smtClean="0"/>
              <a:t>retention offers</a:t>
            </a:r>
            <a:r>
              <a:rPr lang="en-GB" sz="2000" dirty="0" smtClean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7550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6" y="-104503"/>
            <a:ext cx="5963194" cy="6962503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69669"/>
            <a:ext cx="5181600" cy="6107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 smtClean="0"/>
              <a:t>Insights</a:t>
            </a:r>
          </a:p>
          <a:p>
            <a:r>
              <a:rPr lang="en-GB" sz="1800" dirty="0" smtClean="0"/>
              <a:t>Churn increases with delivery delay:</a:t>
            </a:r>
          </a:p>
          <a:p>
            <a:pPr marL="0" indent="0">
              <a:buNone/>
            </a:pPr>
            <a:r>
              <a:rPr lang="en-IN" sz="1800" dirty="0"/>
              <a:t>*</a:t>
            </a:r>
            <a:r>
              <a:rPr lang="en-IN" sz="1800" dirty="0" smtClean="0"/>
              <a:t>On Time: 59%</a:t>
            </a:r>
          </a:p>
          <a:p>
            <a:pPr marL="0" indent="0">
              <a:buNone/>
            </a:pPr>
            <a:r>
              <a:rPr lang="en-IN" sz="1800" dirty="0" smtClean="0"/>
              <a:t>*Late (1–5 days): ~75%</a:t>
            </a:r>
          </a:p>
          <a:p>
            <a:pPr marL="0" indent="0">
              <a:buNone/>
            </a:pPr>
            <a:r>
              <a:rPr lang="en-GB" sz="1800" dirty="0" smtClean="0"/>
              <a:t>*Very Late (&gt;5 days): </a:t>
            </a:r>
            <a:r>
              <a:rPr lang="en-GB" sz="1800" b="1" dirty="0" smtClean="0"/>
              <a:t>~87%</a:t>
            </a:r>
          </a:p>
          <a:p>
            <a:r>
              <a:rPr lang="en-GB" sz="1800" dirty="0" smtClean="0"/>
              <a:t>Delivery delay is the </a:t>
            </a:r>
            <a:r>
              <a:rPr lang="en-GB" sz="1800" b="1" dirty="0" smtClean="0"/>
              <a:t>1 driver of churn</a:t>
            </a:r>
            <a:r>
              <a:rPr lang="en-GB" sz="1800" dirty="0" smtClean="0"/>
              <a:t> in your dataset.</a:t>
            </a:r>
          </a:p>
          <a:p>
            <a:r>
              <a:rPr lang="en-GB" sz="1800" dirty="0" smtClean="0"/>
              <a:t>Low ratings correlate with late deliveries.</a:t>
            </a:r>
          </a:p>
          <a:p>
            <a:pPr marL="0" indent="0">
              <a:buNone/>
            </a:pPr>
            <a:r>
              <a:rPr lang="en-IN" sz="1800" dirty="0" smtClean="0"/>
              <a:t>Business Suggestions</a:t>
            </a:r>
          </a:p>
          <a:p>
            <a:r>
              <a:rPr lang="en-IN" sz="1800" dirty="0" smtClean="0"/>
              <a:t>Improve logistics partner performance.</a:t>
            </a:r>
          </a:p>
          <a:p>
            <a:r>
              <a:rPr lang="en-GB" sz="1800" dirty="0" smtClean="0"/>
              <a:t>Add </a:t>
            </a:r>
            <a:r>
              <a:rPr lang="en-GB" sz="1800" b="1" dirty="0" smtClean="0"/>
              <a:t>real-time order tracking</a:t>
            </a:r>
            <a:r>
              <a:rPr lang="en-GB" sz="1800" dirty="0" smtClean="0"/>
              <a:t> for customers.</a:t>
            </a:r>
          </a:p>
          <a:p>
            <a:r>
              <a:rPr lang="en-GB" sz="1800" dirty="0" smtClean="0"/>
              <a:t>Set up </a:t>
            </a:r>
            <a:r>
              <a:rPr lang="en-GB" sz="1800" b="1" dirty="0" smtClean="0"/>
              <a:t>early warning system</a:t>
            </a:r>
            <a:r>
              <a:rPr lang="en-GB" sz="1800" dirty="0" smtClean="0"/>
              <a:t> for predicted late orders.</a:t>
            </a:r>
          </a:p>
          <a:p>
            <a:r>
              <a:rPr lang="en-GB" sz="1800" dirty="0" smtClean="0"/>
              <a:t>Offer </a:t>
            </a:r>
            <a:r>
              <a:rPr lang="en-GB" sz="1800" b="1" dirty="0" smtClean="0"/>
              <a:t>automatic apology + coupon</a:t>
            </a:r>
            <a:r>
              <a:rPr lang="en-GB" sz="1800" dirty="0" smtClean="0"/>
              <a:t> for delayed deliveries.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2211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39336"/>
            <a:ext cx="5892800" cy="5860869"/>
          </a:xfrm>
        </p:spPr>
      </p:pic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172200" y="0"/>
            <a:ext cx="5181600" cy="617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Insights</a:t>
            </a:r>
          </a:p>
          <a:p>
            <a:r>
              <a:rPr lang="en-GB" sz="2400" dirty="0" smtClean="0"/>
              <a:t>Clear </a:t>
            </a:r>
            <a:r>
              <a:rPr lang="en-GB" sz="2400" b="1" dirty="0" smtClean="0"/>
              <a:t>upward trend</a:t>
            </a:r>
            <a:r>
              <a:rPr lang="en-GB" sz="2400" dirty="0" smtClean="0"/>
              <a:t> in revenue from 2016 to 2018.</a:t>
            </a:r>
          </a:p>
          <a:p>
            <a:r>
              <a:rPr lang="en-GB" sz="2400" dirty="0" smtClean="0"/>
              <a:t>Peak revenue months: </a:t>
            </a:r>
            <a:r>
              <a:rPr lang="en-GB" sz="2400" b="1" dirty="0" smtClean="0"/>
              <a:t>Nov 2017 – May 2018</a:t>
            </a:r>
            <a:r>
              <a:rPr lang="en-GB" sz="2400" dirty="0" smtClean="0"/>
              <a:t>.</a:t>
            </a:r>
          </a:p>
          <a:p>
            <a:r>
              <a:rPr lang="en-GB" sz="2400" dirty="0" smtClean="0"/>
              <a:t>Seasonal spikes show purchases are sensitive to festivals</a:t>
            </a:r>
          </a:p>
          <a:p>
            <a:pPr marL="0" indent="0">
              <a:buNone/>
            </a:pPr>
            <a:r>
              <a:rPr lang="en-IN" sz="2400" b="1" dirty="0" smtClean="0"/>
              <a:t>Business Suggestions</a:t>
            </a:r>
          </a:p>
          <a:p>
            <a:r>
              <a:rPr lang="en-GB" sz="2400" dirty="0" smtClean="0"/>
              <a:t>Improve supply chain efficiency to avoid </a:t>
            </a:r>
            <a:r>
              <a:rPr lang="en-GB" sz="2400" dirty="0" err="1" smtClean="0"/>
              <a:t>stockouts</a:t>
            </a:r>
            <a:r>
              <a:rPr lang="en-GB" sz="2400" dirty="0" smtClean="0"/>
              <a:t> during peaks.</a:t>
            </a:r>
          </a:p>
          <a:p>
            <a:r>
              <a:rPr lang="en-GB" sz="2400" dirty="0" smtClean="0"/>
              <a:t>Increase inventory + marketing during </a:t>
            </a:r>
            <a:r>
              <a:rPr lang="en-GB" sz="2400" b="1" dirty="0" smtClean="0"/>
              <a:t>peak months</a:t>
            </a:r>
            <a:r>
              <a:rPr lang="en-GB" sz="2400" dirty="0" smtClean="0"/>
              <a:t>.</a:t>
            </a:r>
          </a:p>
          <a:p>
            <a:r>
              <a:rPr lang="en-GB" sz="2400" dirty="0" smtClean="0"/>
              <a:t>Plan </a:t>
            </a:r>
            <a:r>
              <a:rPr lang="en-GB" sz="2400" b="1" dirty="0" smtClean="0"/>
              <a:t>seasonal campaigns</a:t>
            </a:r>
            <a:r>
              <a:rPr lang="en-GB" sz="2400" dirty="0" smtClean="0"/>
              <a:t> based on historical peaks.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573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94" y="313509"/>
            <a:ext cx="5619206" cy="5939246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6423"/>
            <a:ext cx="5181600" cy="5950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Insights</a:t>
            </a:r>
          </a:p>
          <a:p>
            <a:r>
              <a:rPr lang="en-GB" sz="2400" b="1" dirty="0" smtClean="0"/>
              <a:t>Beauty &amp; Health</a:t>
            </a:r>
            <a:r>
              <a:rPr lang="en-GB" sz="2400" dirty="0" smtClean="0"/>
              <a:t> → Highest revenue category.</a:t>
            </a:r>
          </a:p>
          <a:p>
            <a:r>
              <a:rPr lang="en-GB" sz="2400" b="1" dirty="0" smtClean="0"/>
              <a:t>Watches &amp; Gifts</a:t>
            </a:r>
            <a:r>
              <a:rPr lang="en-GB" sz="2400" dirty="0" smtClean="0"/>
              <a:t> → Very strong revenue per unit.</a:t>
            </a:r>
          </a:p>
          <a:p>
            <a:r>
              <a:rPr lang="en-GB" sz="2400" b="1" dirty="0" smtClean="0"/>
              <a:t>Home &amp; Bath</a:t>
            </a:r>
            <a:r>
              <a:rPr lang="en-GB" sz="2400" dirty="0" smtClean="0"/>
              <a:t>, </a:t>
            </a:r>
            <a:r>
              <a:rPr lang="en-GB" sz="2400" b="1" dirty="0" smtClean="0"/>
              <a:t>Sports</a:t>
            </a:r>
            <a:r>
              <a:rPr lang="en-GB" sz="2400" dirty="0" smtClean="0"/>
              <a:t>, </a:t>
            </a:r>
            <a:r>
              <a:rPr lang="en-GB" sz="2400" b="1" dirty="0" smtClean="0"/>
              <a:t>Electronics</a:t>
            </a:r>
            <a:r>
              <a:rPr lang="en-GB" sz="2400" dirty="0" smtClean="0"/>
              <a:t> → stable performers.</a:t>
            </a:r>
          </a:p>
          <a:p>
            <a:r>
              <a:rPr lang="en-GB" sz="2400" dirty="0" smtClean="0"/>
              <a:t>Low performers: </a:t>
            </a:r>
            <a:r>
              <a:rPr lang="en-GB" sz="2400" b="1" dirty="0" smtClean="0"/>
              <a:t>Automotive</a:t>
            </a:r>
            <a:r>
              <a:rPr lang="en-GB" sz="2400" dirty="0" smtClean="0"/>
              <a:t>, </a:t>
            </a:r>
            <a:r>
              <a:rPr lang="en-GB" sz="2400" b="1" dirty="0" smtClean="0"/>
              <a:t>Tools</a:t>
            </a:r>
            <a:r>
              <a:rPr lang="en-GB" sz="2400" dirty="0" smtClean="0"/>
              <a:t>, </a:t>
            </a:r>
            <a:r>
              <a:rPr lang="en-GB" sz="2400" b="1" dirty="0" smtClean="0"/>
              <a:t>Cool Stuff</a:t>
            </a:r>
            <a:r>
              <a:rPr lang="en-GB" sz="2400" dirty="0" smtClean="0"/>
              <a:t> categories.</a:t>
            </a:r>
          </a:p>
          <a:p>
            <a:pPr marL="0" indent="0">
              <a:buNone/>
            </a:pPr>
            <a:r>
              <a:rPr lang="en-IN" sz="2400" dirty="0" smtClean="0"/>
              <a:t>Business Suggestions</a:t>
            </a:r>
          </a:p>
          <a:p>
            <a:r>
              <a:rPr lang="en-GB" sz="2400" dirty="0" smtClean="0"/>
              <a:t>Increase ads and visibility for </a:t>
            </a:r>
            <a:r>
              <a:rPr lang="en-GB" sz="2400" b="1" dirty="0" smtClean="0"/>
              <a:t>top 3 categories</a:t>
            </a:r>
            <a:r>
              <a:rPr lang="en-GB" sz="2400" dirty="0" smtClean="0"/>
              <a:t>.</a:t>
            </a:r>
          </a:p>
          <a:p>
            <a:r>
              <a:rPr lang="en-GB" sz="2400" dirty="0" smtClean="0"/>
              <a:t>Bundle low-performing items with high-performing ones.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2901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28" y="322218"/>
            <a:ext cx="5181600" cy="6017623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0629"/>
            <a:ext cx="5181600" cy="6046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smtClean="0"/>
              <a:t>Insights</a:t>
            </a:r>
          </a:p>
          <a:p>
            <a:r>
              <a:rPr lang="en-GB" sz="2000" dirty="0" smtClean="0"/>
              <a:t>Majority of orders (</a:t>
            </a:r>
            <a:r>
              <a:rPr lang="en-GB" sz="2000" b="1" dirty="0" smtClean="0"/>
              <a:t>90,000+</a:t>
            </a:r>
            <a:r>
              <a:rPr lang="en-GB" sz="2000" dirty="0" smtClean="0"/>
              <a:t>) are delivered </a:t>
            </a:r>
            <a:r>
              <a:rPr lang="en-GB" sz="2000" b="1" dirty="0" smtClean="0"/>
              <a:t>On Time or Early</a:t>
            </a:r>
            <a:r>
              <a:rPr lang="en-GB" sz="2000" dirty="0" smtClean="0"/>
              <a:t>.</a:t>
            </a:r>
          </a:p>
          <a:p>
            <a:r>
              <a:rPr lang="en-GB" sz="2000" dirty="0" smtClean="0"/>
              <a:t>A smaller portion (</a:t>
            </a:r>
            <a:r>
              <a:rPr lang="en-GB" sz="2000" b="1" dirty="0" smtClean="0"/>
              <a:t>7,000+</a:t>
            </a:r>
            <a:r>
              <a:rPr lang="en-GB" sz="2000" dirty="0" smtClean="0"/>
              <a:t>) are delivered </a:t>
            </a:r>
            <a:r>
              <a:rPr lang="en-GB" sz="2000" b="1" dirty="0" smtClean="0"/>
              <a:t>Late</a:t>
            </a:r>
            <a:r>
              <a:rPr lang="en-GB" sz="2000" dirty="0" smtClean="0"/>
              <a:t>.</a:t>
            </a:r>
          </a:p>
          <a:p>
            <a:r>
              <a:rPr lang="en-GB" sz="2000" dirty="0" smtClean="0"/>
              <a:t>Late deliveries strongly correlate with:</a:t>
            </a:r>
            <a:r>
              <a:rPr lang="en-IN" sz="2000" dirty="0" smtClean="0"/>
              <a:t>Lower review scores, Higher customer churn, More customer complaints</a:t>
            </a:r>
          </a:p>
          <a:p>
            <a:pPr marL="0" indent="0">
              <a:buNone/>
            </a:pPr>
            <a:r>
              <a:rPr lang="en-IN" sz="2000" dirty="0" smtClean="0"/>
              <a:t>Business Suggestions</a:t>
            </a:r>
          </a:p>
          <a:p>
            <a:r>
              <a:rPr lang="en-GB" sz="2000" dirty="0" smtClean="0"/>
              <a:t>Improve logistics partner performance and SLAs.</a:t>
            </a:r>
          </a:p>
          <a:p>
            <a:r>
              <a:rPr lang="en-GB" sz="2000" dirty="0" smtClean="0"/>
              <a:t>Use </a:t>
            </a:r>
            <a:r>
              <a:rPr lang="en-GB" sz="2000" b="1" dirty="0" smtClean="0"/>
              <a:t>delivery prediction models</a:t>
            </a:r>
            <a:r>
              <a:rPr lang="en-GB" sz="2000" dirty="0" smtClean="0"/>
              <a:t> to flag high-risk delays early.</a:t>
            </a:r>
          </a:p>
          <a:p>
            <a:r>
              <a:rPr lang="en-GB" sz="2000" dirty="0" smtClean="0"/>
              <a:t>Maintain buffer stock for high-demand products to avoid shipment delays.</a:t>
            </a:r>
          </a:p>
          <a:p>
            <a:r>
              <a:rPr lang="en-GB" sz="2000" smtClean="0"/>
              <a:t>Send real-time delivery updates (WhatsApp/SMS/email).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34375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7086"/>
            <a:ext cx="5181600" cy="6089877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Unified Business Insights</a:t>
            </a:r>
          </a:p>
          <a:p>
            <a:r>
              <a:rPr lang="en-GB" dirty="0" smtClean="0"/>
              <a:t>High churn (71%) → major retention problem.</a:t>
            </a:r>
          </a:p>
          <a:p>
            <a:r>
              <a:rPr lang="en-GB" dirty="0" smtClean="0"/>
              <a:t>Delivery delays have the largest negative impact on customer loyalty.</a:t>
            </a:r>
          </a:p>
          <a:p>
            <a:r>
              <a:rPr lang="en-GB" dirty="0" smtClean="0"/>
              <a:t>Sales trend shows strong growth: large potential if churn is reduced.</a:t>
            </a:r>
          </a:p>
          <a:p>
            <a:r>
              <a:rPr lang="en-GB" dirty="0" smtClean="0"/>
              <a:t>Beauty &amp; Health, Watches &amp; Gifts are top revenue drivers.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799" y="0"/>
            <a:ext cx="5736771" cy="6089877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Unified Business Recommendations</a:t>
            </a:r>
          </a:p>
          <a:p>
            <a:r>
              <a:rPr lang="en-GB" dirty="0" smtClean="0"/>
              <a:t>Improve delivery performance through new logistics SLAs.</a:t>
            </a:r>
          </a:p>
          <a:p>
            <a:r>
              <a:rPr lang="en-GB" dirty="0" smtClean="0"/>
              <a:t>Launch loyalty programs to retain customers.</a:t>
            </a:r>
          </a:p>
          <a:p>
            <a:r>
              <a:rPr lang="en-GB" dirty="0" smtClean="0"/>
              <a:t>Use predictive churn models to target at-risk customers.</a:t>
            </a:r>
          </a:p>
          <a:p>
            <a:r>
              <a:rPr lang="en-GB" dirty="0" smtClean="0"/>
              <a:t>Focus promotions on top-selling categories &amp; improve weak ones.</a:t>
            </a:r>
          </a:p>
          <a:p>
            <a:r>
              <a:rPr lang="en-GB" dirty="0" smtClean="0"/>
              <a:t>Provide proactive customer communication during delays.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3231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685</Words>
  <Application>Microsoft Office PowerPoint</Application>
  <PresentationFormat>Widescreen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Customer Churn Prediction &amp; Insights Analysis     by         Y. V. Ramana</vt:lpstr>
      <vt:lpstr>Objective &amp; Data sets</vt:lpstr>
      <vt:lpstr>Feature Engineering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&amp; Insights Analysis     by         Y. V. Ramana</dc:title>
  <dc:creator>Microsoft account</dc:creator>
  <cp:lastModifiedBy>Microsoft account</cp:lastModifiedBy>
  <cp:revision>6</cp:revision>
  <dcterms:created xsi:type="dcterms:W3CDTF">2025-12-09T09:38:32Z</dcterms:created>
  <dcterms:modified xsi:type="dcterms:W3CDTF">2025-12-09T10:09:24Z</dcterms:modified>
</cp:coreProperties>
</file>